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" charset="1" panose="00000000000000000000"/>
      <p:regular r:id="rId16"/>
    </p:embeddedFont>
    <p:embeddedFont>
      <p:font typeface="Higuen Elegant Serif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https://github.com/tairsa/Dog-Breed-Image-Classifier.gi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03915" y="-2603915"/>
            <a:ext cx="7303330" cy="7303330"/>
          </a:xfrm>
          <a:custGeom>
            <a:avLst/>
            <a:gdLst/>
            <a:ahLst/>
            <a:cxnLst/>
            <a:rect r="r" b="b" t="t" l="l"/>
            <a:pathLst>
              <a:path h="7303330" w="7303330">
                <a:moveTo>
                  <a:pt x="0" y="0"/>
                </a:moveTo>
                <a:lnTo>
                  <a:pt x="7303330" y="0"/>
                </a:lnTo>
                <a:lnTo>
                  <a:pt x="7303330" y="7303330"/>
                </a:lnTo>
                <a:lnTo>
                  <a:pt x="0" y="730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07635" y="5587008"/>
            <a:ext cx="7303330" cy="7303330"/>
          </a:xfrm>
          <a:custGeom>
            <a:avLst/>
            <a:gdLst/>
            <a:ahLst/>
            <a:cxnLst/>
            <a:rect r="r" b="b" t="t" l="l"/>
            <a:pathLst>
              <a:path h="7303330" w="7303330">
                <a:moveTo>
                  <a:pt x="0" y="0"/>
                </a:moveTo>
                <a:lnTo>
                  <a:pt x="7303330" y="0"/>
                </a:lnTo>
                <a:lnTo>
                  <a:pt x="7303330" y="7303330"/>
                </a:lnTo>
                <a:lnTo>
                  <a:pt x="0" y="730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8" id="8"/>
          <p:cNvSpPr/>
          <p:nvPr/>
        </p:nvSpPr>
        <p:spPr>
          <a:xfrm flipH="false" flipV="false" rot="1612896">
            <a:off x="15732163" y="6522248"/>
            <a:ext cx="2346749" cy="2346749"/>
          </a:xfrm>
          <a:custGeom>
            <a:avLst/>
            <a:gdLst/>
            <a:ahLst/>
            <a:cxnLst/>
            <a:rect r="r" b="b" t="t" l="l"/>
            <a:pathLst>
              <a:path h="2346749" w="2346749">
                <a:moveTo>
                  <a:pt x="0" y="0"/>
                </a:moveTo>
                <a:lnTo>
                  <a:pt x="2346749" y="0"/>
                </a:lnTo>
                <a:lnTo>
                  <a:pt x="2346749" y="2346749"/>
                </a:lnTo>
                <a:lnTo>
                  <a:pt x="0" y="2346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3169" y="6762704"/>
            <a:ext cx="13621661" cy="46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3497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 Implementation using the fastai Library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9627" y="2839027"/>
            <a:ext cx="15395910" cy="352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1"/>
              </a:lnSpc>
            </a:pPr>
            <a:r>
              <a:rPr lang="en-US" sz="13531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DOG BREED IMAGE CLASSIFICATION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88305" y="7594484"/>
            <a:ext cx="4311389" cy="84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5"/>
              </a:lnSpc>
            </a:pPr>
            <a:r>
              <a:rPr lang="en-US" sz="2245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SUBMIT BY : TAIR SAIDA</a:t>
            </a:r>
          </a:p>
          <a:p>
            <a:pPr algn="just">
              <a:lnSpc>
                <a:spcPts val="2245"/>
              </a:lnSpc>
            </a:pPr>
            <a:r>
              <a:rPr lang="en-US" sz="2245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COURSE :  DEEP LEARNING</a:t>
            </a:r>
          </a:p>
          <a:p>
            <a:pPr algn="just">
              <a:lnSpc>
                <a:spcPts val="2245"/>
              </a:lnSpc>
            </a:pPr>
            <a:r>
              <a:rPr lang="en-US" sz="2245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SUBMITION DATE : 2025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035540">
            <a:off x="1281339" y="407983"/>
            <a:ext cx="2103661" cy="2103661"/>
          </a:xfrm>
          <a:custGeom>
            <a:avLst/>
            <a:gdLst/>
            <a:ahLst/>
            <a:cxnLst/>
            <a:rect r="r" b="b" t="t" l="l"/>
            <a:pathLst>
              <a:path h="2103661" w="2103661">
                <a:moveTo>
                  <a:pt x="0" y="0"/>
                </a:moveTo>
                <a:lnTo>
                  <a:pt x="2103661" y="0"/>
                </a:lnTo>
                <a:lnTo>
                  <a:pt x="2103661" y="2103661"/>
                </a:lnTo>
                <a:lnTo>
                  <a:pt x="0" y="2103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09734" y="8813563"/>
            <a:ext cx="10795696" cy="29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5"/>
              </a:lnSpc>
            </a:pPr>
            <a:r>
              <a:rPr lang="en-US" sz="2245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GITHUB LINK: </a:t>
            </a:r>
            <a:r>
              <a:rPr lang="en-US" sz="2245" u="sng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  <a:hlinkClick r:id="rId5" tooltip="https://github.com/tairsa/Dog-Breed-Image-Classifier.git"/>
              </a:rPr>
              <a:t>HTTPS://GITHUB.COM/TAIRSA/DOG-BREED-IMAGE-CLASSIFIER.GIT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53490" y="4610155"/>
            <a:ext cx="3360447" cy="3360447"/>
          </a:xfrm>
          <a:custGeom>
            <a:avLst/>
            <a:gdLst/>
            <a:ahLst/>
            <a:cxnLst/>
            <a:rect r="r" b="b" t="t" l="l"/>
            <a:pathLst>
              <a:path h="3360447" w="3360447">
                <a:moveTo>
                  <a:pt x="0" y="0"/>
                </a:moveTo>
                <a:lnTo>
                  <a:pt x="3360448" y="0"/>
                </a:lnTo>
                <a:lnTo>
                  <a:pt x="3360448" y="3360447"/>
                </a:lnTo>
                <a:lnTo>
                  <a:pt x="0" y="3360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7533" y="2449170"/>
            <a:ext cx="11291985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PROBLEM DEFINITION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32705" y="4041931"/>
            <a:ext cx="6830346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Task: Multi-class image classification.</a:t>
            </a:r>
          </a:p>
          <a:p>
            <a:pPr algn="l">
              <a:lnSpc>
                <a:spcPts val="51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832705" y="5519651"/>
            <a:ext cx="8724760" cy="433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•Predict the dog breed from an input image.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•Breeds: Beagle, Doberman, Golden Retriever, Labrador Retriever, Shih-Tzu.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•Motivation: Useful for apps and organizing image collections and I wanted to choose a subject that I love so it was very fun and interesting to do it about dogs.</a:t>
            </a:r>
          </a:p>
          <a:p>
            <a:pPr algn="just">
              <a:lnSpc>
                <a:spcPts val="499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4232" y="4416666"/>
            <a:ext cx="3058706" cy="3058706"/>
          </a:xfrm>
          <a:custGeom>
            <a:avLst/>
            <a:gdLst/>
            <a:ahLst/>
            <a:cxnLst/>
            <a:rect r="r" b="b" t="t" l="l"/>
            <a:pathLst>
              <a:path h="3058706" w="3058706">
                <a:moveTo>
                  <a:pt x="0" y="0"/>
                </a:moveTo>
                <a:lnTo>
                  <a:pt x="3058707" y="0"/>
                </a:lnTo>
                <a:lnTo>
                  <a:pt x="3058707" y="3058706"/>
                </a:lnTo>
                <a:lnTo>
                  <a:pt x="0" y="305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7750" y="2770301"/>
            <a:ext cx="16211550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CHALLENGES BEFORE MODELLING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13857" y="4349991"/>
            <a:ext cx="10633173" cy="785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•Breeds may look similar  like Golden Retriever and Labrador Retriever.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•Variation within each breed.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•Collecting a big and  qualitative data base.</a:t>
            </a: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</a:p>
          <a:p>
            <a:pPr algn="r" rtl="true">
              <a:lnSpc>
                <a:spcPts val="5179"/>
              </a:lnSpc>
            </a:pPr>
            <a:r>
              <a:rPr lang="he-IL" sz="36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  <a:rtl val="true"/>
              </a:rPr>
              <a:t>ג==</a:t>
            </a:r>
          </a:p>
          <a:p>
            <a:pPr algn="l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46635" y="1047750"/>
            <a:ext cx="2768952" cy="3233383"/>
          </a:xfrm>
          <a:custGeom>
            <a:avLst/>
            <a:gdLst/>
            <a:ahLst/>
            <a:cxnLst/>
            <a:rect r="r" b="b" t="t" l="l"/>
            <a:pathLst>
              <a:path h="3233383" w="2768952">
                <a:moveTo>
                  <a:pt x="0" y="0"/>
                </a:moveTo>
                <a:lnTo>
                  <a:pt x="2768952" y="0"/>
                </a:lnTo>
                <a:lnTo>
                  <a:pt x="2768952" y="3233383"/>
                </a:lnTo>
                <a:lnTo>
                  <a:pt x="0" y="3233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372261"/>
            <a:ext cx="13314228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DATASET COLLECTION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973" y="4330503"/>
            <a:ext cx="15753263" cy="397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Sources: Stanford Dogs Dataset </a:t>
            </a:r>
            <a:r>
              <a:rPr lang="en-US" sz="31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(A well-known academic benchmark).</a:t>
            </a:r>
          </a:p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Data Organization Steps: Sampling: </a:t>
            </a:r>
            <a:r>
              <a:rPr lang="en-US" sz="31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 subset was created, containing 150 images for each of the 5 selected breeds (Total: 750 images).  Splitting: The dataset was manually organized into train (training set) and test (validation set) folders, using an 80%/20% split.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962569" y="-342903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02395" y="5591139"/>
            <a:ext cx="2818471" cy="3554719"/>
          </a:xfrm>
          <a:custGeom>
            <a:avLst/>
            <a:gdLst/>
            <a:ahLst/>
            <a:cxnLst/>
            <a:rect r="r" b="b" t="t" l="l"/>
            <a:pathLst>
              <a:path h="3554719" w="2818471">
                <a:moveTo>
                  <a:pt x="0" y="0"/>
                </a:moveTo>
                <a:lnTo>
                  <a:pt x="2818471" y="0"/>
                </a:lnTo>
                <a:lnTo>
                  <a:pt x="2818471" y="3554719"/>
                </a:lnTo>
                <a:lnTo>
                  <a:pt x="0" y="355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10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30416" y="5662630"/>
            <a:ext cx="3571133" cy="3454822"/>
          </a:xfrm>
          <a:custGeom>
            <a:avLst/>
            <a:gdLst/>
            <a:ahLst/>
            <a:cxnLst/>
            <a:rect r="r" b="b" t="t" l="l"/>
            <a:pathLst>
              <a:path h="3454822" w="3571133">
                <a:moveTo>
                  <a:pt x="0" y="0"/>
                </a:moveTo>
                <a:lnTo>
                  <a:pt x="3571133" y="0"/>
                </a:lnTo>
                <a:lnTo>
                  <a:pt x="3571133" y="3454822"/>
                </a:lnTo>
                <a:lnTo>
                  <a:pt x="0" y="3454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47" t="0" r="-750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11099" y="5691036"/>
            <a:ext cx="2811682" cy="3426416"/>
          </a:xfrm>
          <a:custGeom>
            <a:avLst/>
            <a:gdLst/>
            <a:ahLst/>
            <a:cxnLst/>
            <a:rect r="r" b="b" t="t" l="l"/>
            <a:pathLst>
              <a:path h="3426416" w="2811682">
                <a:moveTo>
                  <a:pt x="0" y="0"/>
                </a:moveTo>
                <a:lnTo>
                  <a:pt x="2811683" y="0"/>
                </a:lnTo>
                <a:lnTo>
                  <a:pt x="2811683" y="3426416"/>
                </a:lnTo>
                <a:lnTo>
                  <a:pt x="0" y="3426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930" t="0" r="-3855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32332" y="5733608"/>
            <a:ext cx="2915386" cy="3412251"/>
          </a:xfrm>
          <a:custGeom>
            <a:avLst/>
            <a:gdLst/>
            <a:ahLst/>
            <a:cxnLst/>
            <a:rect r="r" b="b" t="t" l="l"/>
            <a:pathLst>
              <a:path h="3412251" w="2915386">
                <a:moveTo>
                  <a:pt x="0" y="0"/>
                </a:moveTo>
                <a:lnTo>
                  <a:pt x="2915385" y="0"/>
                </a:lnTo>
                <a:lnTo>
                  <a:pt x="2915385" y="3412250"/>
                </a:lnTo>
                <a:lnTo>
                  <a:pt x="0" y="3412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527" t="0" r="-3352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43794" y="5834850"/>
            <a:ext cx="2500380" cy="3282603"/>
          </a:xfrm>
          <a:custGeom>
            <a:avLst/>
            <a:gdLst/>
            <a:ahLst/>
            <a:cxnLst/>
            <a:rect r="r" b="b" t="t" l="l"/>
            <a:pathLst>
              <a:path h="3282603" w="2500380">
                <a:moveTo>
                  <a:pt x="0" y="0"/>
                </a:moveTo>
                <a:lnTo>
                  <a:pt x="2500380" y="0"/>
                </a:lnTo>
                <a:lnTo>
                  <a:pt x="2500380" y="3282602"/>
                </a:lnTo>
                <a:lnTo>
                  <a:pt x="0" y="3282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714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77459" y="1581150"/>
            <a:ext cx="14533082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DATASET SIZE AND EXAMPLES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894" y="2989763"/>
            <a:ext cx="15753263" cy="1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* Train Set: </a:t>
            </a:r>
            <a:r>
              <a:rPr lang="en-US" sz="31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600 images (5 breeds x 120 images each). * Test Set: 150 images (5 breeds x 30 images each).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8994" y="4758690"/>
            <a:ext cx="2451422" cy="73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Beagle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90272" y="4758690"/>
            <a:ext cx="2451422" cy="73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Doberman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82789" y="4758690"/>
            <a:ext cx="3668303" cy="73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Golden Retriever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96295" y="4758690"/>
            <a:ext cx="2451422" cy="73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Shih-Tzu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78734" y="4758690"/>
            <a:ext cx="2451422" cy="73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 b="tru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Labrador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091455" y="1447800"/>
            <a:ext cx="4167845" cy="4114800"/>
          </a:xfrm>
          <a:custGeom>
            <a:avLst/>
            <a:gdLst/>
            <a:ahLst/>
            <a:cxnLst/>
            <a:rect r="r" b="b" t="t" l="l"/>
            <a:pathLst>
              <a:path h="4114800" w="4167845">
                <a:moveTo>
                  <a:pt x="0" y="0"/>
                </a:moveTo>
                <a:lnTo>
                  <a:pt x="4167845" y="0"/>
                </a:lnTo>
                <a:lnTo>
                  <a:pt x="4167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11473" y="2225649"/>
            <a:ext cx="10500266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MODEL PIPELINE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049" y="3713194"/>
            <a:ext cx="11328016" cy="142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5999"/>
              </a:lnSpc>
              <a:buFont typeface="Arial"/>
              <a:buChar char="•"/>
            </a:pPr>
            <a:r>
              <a:rPr lang="en-US" b="true" sz="29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ast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 approach: </a:t>
            </a:r>
            <a:r>
              <a:rPr lang="en-US" sz="29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leveraging a pre-trained network's foundational knowledge of image features.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049" y="5334000"/>
            <a:ext cx="12973690" cy="142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5999"/>
              </a:lnSpc>
              <a:buFont typeface="Arial"/>
              <a:buChar char="•"/>
            </a:pPr>
            <a:r>
              <a:rPr lang="en-US" b="true" sz="29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rchite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ctu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os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en : </a:t>
            </a:r>
            <a:r>
              <a:rPr lang="en-US" sz="29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 used the vision_learner(dls, resnet34, metrics=accuracy) function to load the pre-trained weights.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049" y="6953252"/>
            <a:ext cx="12973690" cy="142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5999"/>
              </a:lnSpc>
              <a:buFont typeface="Arial"/>
              <a:buChar char="•"/>
            </a:pPr>
            <a:r>
              <a:rPr lang="en-US" b="true" sz="29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rai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ning d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et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ail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9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r>
              <a:rPr lang="en-US" sz="29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learn.fine_tune(3): This function automates the best practice for Transfer Learning.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451515" y="2737139"/>
            <a:ext cx="7203836" cy="7192770"/>
          </a:xfrm>
          <a:custGeom>
            <a:avLst/>
            <a:gdLst/>
            <a:ahLst/>
            <a:cxnLst/>
            <a:rect r="r" b="b" t="t" l="l"/>
            <a:pathLst>
              <a:path h="7192770" w="7203836">
                <a:moveTo>
                  <a:pt x="0" y="0"/>
                </a:moveTo>
                <a:lnTo>
                  <a:pt x="7203836" y="0"/>
                </a:lnTo>
                <a:lnTo>
                  <a:pt x="7203836" y="7192770"/>
                </a:lnTo>
                <a:lnTo>
                  <a:pt x="0" y="719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3156740" y="1104893"/>
            <a:ext cx="13205692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4427" y="2929256"/>
            <a:ext cx="6830346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Fi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al Val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da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ion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Accu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ra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173" y="3895938"/>
            <a:ext cx="6920855" cy="182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sz="24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96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66%  The model successfully mastered the fine-grained classification task on the selected subset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26586" y="2071999"/>
            <a:ext cx="6830346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Confusio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n 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atrix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134844" y="1257739"/>
            <a:ext cx="2735515" cy="3476384"/>
          </a:xfrm>
          <a:custGeom>
            <a:avLst/>
            <a:gdLst/>
            <a:ahLst/>
            <a:cxnLst/>
            <a:rect r="r" b="b" t="t" l="l"/>
            <a:pathLst>
              <a:path h="3476384" w="2735515">
                <a:moveTo>
                  <a:pt x="0" y="0"/>
                </a:moveTo>
                <a:lnTo>
                  <a:pt x="2735515" y="0"/>
                </a:lnTo>
                <a:lnTo>
                  <a:pt x="2735515" y="3476384"/>
                </a:lnTo>
                <a:lnTo>
                  <a:pt x="0" y="3476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3156740" y="1104893"/>
            <a:ext cx="13205692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4427" y="2929256"/>
            <a:ext cx="9442918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Wh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t the mode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l l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ed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 / struggled with: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9173" y="3895938"/>
            <a:ext cx="10939368" cy="433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b="true" sz="24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Strengths: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The model 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ar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ed 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 id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ntify key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fine-grained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features su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h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muzzle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hape,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at 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exture,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ov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rall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hou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, which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ting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ishes the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reed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ffec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ively.</a:t>
            </a:r>
          </a:p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struggle: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The highest confusion occurred between the two visually similar retriever breeds, which is a common challenge in fine-grained classification.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014770" y="2025757"/>
            <a:ext cx="922744" cy="2393971"/>
          </a:xfrm>
          <a:custGeom>
            <a:avLst/>
            <a:gdLst/>
            <a:ahLst/>
            <a:cxnLst/>
            <a:rect r="r" b="b" t="t" l="l"/>
            <a:pathLst>
              <a:path h="2393971" w="922744">
                <a:moveTo>
                  <a:pt x="0" y="0"/>
                </a:moveTo>
                <a:lnTo>
                  <a:pt x="922743" y="0"/>
                </a:lnTo>
                <a:lnTo>
                  <a:pt x="922743" y="2393971"/>
                </a:lnTo>
                <a:lnTo>
                  <a:pt x="0" y="2393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4850" y="2528902"/>
            <a:ext cx="7116065" cy="200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CHALLENGES ENCOUNTERED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5887" y="4794914"/>
            <a:ext cx="5093830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ois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 la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bels: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5887" y="5672484"/>
            <a:ext cx="6163649" cy="245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sz="24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lea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ning,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me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imag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con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tain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ed low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qu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y, poor 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gh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ting,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xtr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s,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which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ten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ally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ncreas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th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ffic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ult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of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g task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795202"/>
            <a:ext cx="5093830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Unexpected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 be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havior</a:t>
            </a:r>
            <a:r>
              <a:rPr lang="en-US" b="true" sz="3699" strike="noStrike" u="none">
                <a:solidFill>
                  <a:srgbClr val="532323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5687247"/>
            <a:ext cx="6261158" cy="245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99"/>
              </a:lnSpc>
              <a:spcBef>
                <a:spcPct val="0"/>
              </a:spcBef>
            </a:pPr>
            <a:r>
              <a:rPr lang="en-US" sz="2499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 pri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mary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hal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lenge was the high degree o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visual si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mila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rity bet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een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cert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ain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br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eeds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(e.g.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, th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retrievers),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requir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g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ompl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feature differentiat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ion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 by the 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mod</a:t>
            </a:r>
            <a:r>
              <a:rPr lang="en-US" sz="2499" strike="noStrike" u="none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el.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03915" y="-2603915"/>
            <a:ext cx="7303330" cy="7303330"/>
          </a:xfrm>
          <a:custGeom>
            <a:avLst/>
            <a:gdLst/>
            <a:ahLst/>
            <a:cxnLst/>
            <a:rect r="r" b="b" t="t" l="l"/>
            <a:pathLst>
              <a:path h="7303330" w="7303330">
                <a:moveTo>
                  <a:pt x="0" y="0"/>
                </a:moveTo>
                <a:lnTo>
                  <a:pt x="7303330" y="0"/>
                </a:lnTo>
                <a:lnTo>
                  <a:pt x="7303330" y="7303330"/>
                </a:lnTo>
                <a:lnTo>
                  <a:pt x="0" y="730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07635" y="5587008"/>
            <a:ext cx="7303330" cy="7303330"/>
          </a:xfrm>
          <a:custGeom>
            <a:avLst/>
            <a:gdLst/>
            <a:ahLst/>
            <a:cxnLst/>
            <a:rect r="r" b="b" t="t" l="l"/>
            <a:pathLst>
              <a:path h="7303330" w="7303330">
                <a:moveTo>
                  <a:pt x="0" y="0"/>
                </a:moveTo>
                <a:lnTo>
                  <a:pt x="7303330" y="0"/>
                </a:lnTo>
                <a:lnTo>
                  <a:pt x="7303330" y="7303330"/>
                </a:lnTo>
                <a:lnTo>
                  <a:pt x="0" y="730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0" y="1047750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238673"/>
            <a:ext cx="18288000" cy="0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7259300" y="971543"/>
            <a:ext cx="0" cy="98900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diamond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H="true">
            <a:off x="1047750" y="-437615"/>
            <a:ext cx="0" cy="9748896"/>
          </a:xfrm>
          <a:prstGeom prst="line">
            <a:avLst/>
          </a:prstGeom>
          <a:ln cap="flat" w="38100">
            <a:solidFill>
              <a:srgbClr val="532323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12258541" y="405765"/>
            <a:ext cx="500075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>
                <a:solidFill>
                  <a:srgbClr val="532323"/>
                </a:solidFill>
                <a:latin typeface="DM Sans"/>
                <a:ea typeface="DM Sans"/>
                <a:cs typeface="DM Sans"/>
                <a:sym typeface="DM Sans"/>
              </a:rPr>
              <a:t>DEEP LEARNING,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99323" y="4005579"/>
            <a:ext cx="13108404" cy="232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30"/>
              </a:lnSpc>
            </a:pPr>
            <a:r>
              <a:rPr lang="en-US" sz="17330">
                <a:solidFill>
                  <a:srgbClr val="532323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807899">
            <a:off x="15308130" y="4147453"/>
            <a:ext cx="2346749" cy="2346749"/>
          </a:xfrm>
          <a:custGeom>
            <a:avLst/>
            <a:gdLst/>
            <a:ahLst/>
            <a:cxnLst/>
            <a:rect r="r" b="b" t="t" l="l"/>
            <a:pathLst>
              <a:path h="2346749" w="2346749">
                <a:moveTo>
                  <a:pt x="0" y="0"/>
                </a:moveTo>
                <a:lnTo>
                  <a:pt x="2346749" y="0"/>
                </a:lnTo>
                <a:lnTo>
                  <a:pt x="2346749" y="2346748"/>
                </a:lnTo>
                <a:lnTo>
                  <a:pt x="0" y="2346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DAG6WpmI0Jo</dc:identifier>
  <dcterms:modified xsi:type="dcterms:W3CDTF">2011-08-01T06:04:30Z</dcterms:modified>
  <cp:revision>1</cp:revision>
  <dc:title>Dog Breed Image Classification</dc:title>
</cp:coreProperties>
</file>